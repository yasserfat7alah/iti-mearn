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4"/>
  </p:sldMasterIdLst>
  <p:notesMasterIdLst>
    <p:notesMasterId r:id="rId18"/>
  </p:notesMasterIdLst>
  <p:sldIdLst>
    <p:sldId id="256" r:id="rId5"/>
    <p:sldId id="259" r:id="rId6"/>
    <p:sldId id="327" r:id="rId7"/>
    <p:sldId id="287" r:id="rId8"/>
    <p:sldId id="326" r:id="rId9"/>
    <p:sldId id="323" r:id="rId10"/>
    <p:sldId id="328" r:id="rId11"/>
    <p:sldId id="322" r:id="rId12"/>
    <p:sldId id="290" r:id="rId13"/>
    <p:sldId id="295" r:id="rId14"/>
    <p:sldId id="324" r:id="rId15"/>
    <p:sldId id="325" r:id="rId16"/>
    <p:sldId id="280" r:id="rId17"/>
  </p:sldIdLst>
  <p:sldSz cx="9144000" cy="5143500" type="screen16x9"/>
  <p:notesSz cx="6858000" cy="9144000"/>
  <p:embeddedFontLst>
    <p:embeddedFont>
      <p:font typeface="Helvetica Neue" panose="020B0604020202020204" charset="0"/>
      <p:regular r:id="rId19"/>
      <p:bold r:id="rId20"/>
      <p:italic r:id="rId21"/>
      <p:boldItalic r:id="rId22"/>
    </p:embeddedFont>
    <p:embeddedFont>
      <p:font typeface="Lato" panose="020F0502020204030203" pitchFamily="34" charset="0"/>
      <p:regular r:id="rId23"/>
      <p:bold r:id="rId24"/>
      <p:italic r:id="rId25"/>
      <p:boldItalic r:id="rId26"/>
    </p:embeddedFont>
    <p:embeddedFont>
      <p:font typeface="Nixie One" panose="020B0604020202020204"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C28781-6E53-8201-E323-6D6B73AA3282}" v="2" dt="2025-08-24T11:47:42.650"/>
  </p1510:revLst>
</p1510:revInfo>
</file>

<file path=ppt/tableStyles.xml><?xml version="1.0" encoding="utf-8"?>
<a:tblStyleLst xmlns:a="http://schemas.openxmlformats.org/drawingml/2006/main" def="{EF37BB4D-52B8-4551-BC7E-8E89F96EB5F1}">
  <a:tblStyle styleId="{EF37BB4D-52B8-4551-BC7E-8E89F96EB5F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6" autoAdjust="0"/>
  </p:normalViewPr>
  <p:slideViewPr>
    <p:cSldViewPr>
      <p:cViewPr>
        <p:scale>
          <a:sx n="150" d="100"/>
          <a:sy n="150" d="100"/>
        </p:scale>
        <p:origin x="47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hadasalah790" userId="S::ghadasalah790_gmail.com#ext#@itihub.onmicrosoft.com::7971a121-fa37-4ea3-a132-9ee3d8d1738f" providerId="AD" clId="Web-{76C28781-6E53-8201-E323-6D6B73AA3282}"/>
    <pc:docChg chg="modSld">
      <pc:chgData name="ghadasalah790" userId="S::ghadasalah790_gmail.com#ext#@itihub.onmicrosoft.com::7971a121-fa37-4ea3-a132-9ee3d8d1738f" providerId="AD" clId="Web-{76C28781-6E53-8201-E323-6D6B73AA3282}" dt="2025-08-24T11:47:42.650" v="1" actId="1076"/>
      <pc:docMkLst>
        <pc:docMk/>
      </pc:docMkLst>
      <pc:sldChg chg="modSp">
        <pc:chgData name="ghadasalah790" userId="S::ghadasalah790_gmail.com#ext#@itihub.onmicrosoft.com::7971a121-fa37-4ea3-a132-9ee3d8d1738f" providerId="AD" clId="Web-{76C28781-6E53-8201-E323-6D6B73AA3282}" dt="2025-08-24T11:47:42.650" v="1" actId="1076"/>
        <pc:sldMkLst>
          <pc:docMk/>
          <pc:sldMk cId="2131880459" sldId="325"/>
        </pc:sldMkLst>
        <pc:picChg chg="mod">
          <ac:chgData name="ghadasalah790" userId="S::ghadasalah790_gmail.com#ext#@itihub.onmicrosoft.com::7971a121-fa37-4ea3-a132-9ee3d8d1738f" providerId="AD" clId="Web-{76C28781-6E53-8201-E323-6D6B73AA3282}" dt="2025-08-24T11:47:42.650" v="1" actId="1076"/>
          <ac:picMkLst>
            <pc:docMk/>
            <pc:sldMk cId="2131880459" sldId="325"/>
            <ac:picMk id="4" creationId="{E7B059AE-4DF8-1B05-509B-FBCDC69E67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7081722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8239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028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8513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22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140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905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0463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rot="10800000" flipH="1">
            <a:off x="3919993" y="3977033"/>
            <a:ext cx="1303500" cy="11283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11" name="Google Shape;11;p2"/>
          <p:cNvSpPr/>
          <p:nvPr/>
        </p:nvSpPr>
        <p:spPr>
          <a:xfrm rot="5400000">
            <a:off x="3809057" y="-81000"/>
            <a:ext cx="1525500" cy="1761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12" name="Google Shape;12;p2"/>
          <p:cNvSpPr txBox="1">
            <a:spLocks noGrp="1"/>
          </p:cNvSpPr>
          <p:nvPr>
            <p:ph type="ctrTitle"/>
          </p:nvPr>
        </p:nvSpPr>
        <p:spPr>
          <a:xfrm>
            <a:off x="1400175" y="1991825"/>
            <a:ext cx="6343500" cy="115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3" name="Google Shape;13;p2"/>
          <p:cNvSpPr/>
          <p:nvPr/>
        </p:nvSpPr>
        <p:spPr>
          <a:xfrm rot="10800000" flipH="1">
            <a:off x="2809875" y="-172875"/>
            <a:ext cx="1111500" cy="962400"/>
          </a:xfrm>
          <a:prstGeom prst="hexagon">
            <a:avLst>
              <a:gd name="adj" fmla="val 28678"/>
              <a:gd name="vf" fmla="val 115470"/>
            </a:avLst>
          </a:prstGeom>
          <a:noFill/>
          <a:ln w="19050"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flipH="1">
            <a:off x="3602723" y="1360109"/>
            <a:ext cx="493800" cy="4275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flipH="1">
            <a:off x="5278915" y="855279"/>
            <a:ext cx="944700" cy="818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flipH="1">
            <a:off x="5365799" y="352324"/>
            <a:ext cx="493800" cy="4272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5549153" y="1029780"/>
            <a:ext cx="404640" cy="374059"/>
            <a:chOff x="5975075" y="2327500"/>
            <a:chExt cx="420100" cy="388350"/>
          </a:xfrm>
        </p:grpSpPr>
        <p:sp>
          <p:nvSpPr>
            <p:cNvPr id="18" name="Google Shape;18;p2"/>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3253021" y="113273"/>
            <a:ext cx="225085" cy="38996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oogle Shape;21;p2"/>
          <p:cNvGrpSpPr/>
          <p:nvPr/>
        </p:nvGrpSpPr>
        <p:grpSpPr>
          <a:xfrm>
            <a:off x="4380526" y="515192"/>
            <a:ext cx="382958" cy="607111"/>
            <a:chOff x="6718575" y="2318625"/>
            <a:chExt cx="256950" cy="407375"/>
          </a:xfrm>
        </p:grpSpPr>
        <p:sp>
          <p:nvSpPr>
            <p:cNvPr id="22" name="Google Shape;22;p2"/>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3199464" y="902959"/>
            <a:ext cx="395018" cy="403297"/>
            <a:chOff x="3951850" y="2985350"/>
            <a:chExt cx="407950" cy="416500"/>
          </a:xfrm>
        </p:grpSpPr>
        <p:sp>
          <p:nvSpPr>
            <p:cNvPr id="31" name="Google Shape;31;p2"/>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rot="10800000" flipH="1">
            <a:off x="5010533" y="4576648"/>
            <a:ext cx="1032900" cy="894600"/>
          </a:xfrm>
          <a:prstGeom prst="hexagon">
            <a:avLst>
              <a:gd name="adj" fmla="val 28678"/>
              <a:gd name="vf" fmla="val 115470"/>
            </a:avLst>
          </a:prstGeom>
          <a:noFill/>
          <a:ln w="19050"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flipH="1">
            <a:off x="5133679" y="4056450"/>
            <a:ext cx="540000" cy="4674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0800000" flipH="1">
            <a:off x="3101709" y="3629719"/>
            <a:ext cx="1032900" cy="8940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10800000" flipH="1">
            <a:off x="3530384" y="4576662"/>
            <a:ext cx="452100" cy="3912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370705" y="4867761"/>
            <a:ext cx="312503" cy="312484"/>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5772009" y="4056440"/>
            <a:ext cx="573943" cy="550550"/>
            <a:chOff x="5241175" y="4959100"/>
            <a:chExt cx="539775" cy="517775"/>
          </a:xfrm>
        </p:grpSpPr>
        <p:sp>
          <p:nvSpPr>
            <p:cNvPr id="41" name="Google Shape;41;p2"/>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2"/>
          <p:cNvSpPr/>
          <p:nvPr/>
        </p:nvSpPr>
        <p:spPr>
          <a:xfrm>
            <a:off x="3429208" y="3904791"/>
            <a:ext cx="377839" cy="343685"/>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8"/>
        <p:cNvGrpSpPr/>
        <p:nvPr/>
      </p:nvGrpSpPr>
      <p:grpSpPr>
        <a:xfrm>
          <a:off x="0" y="0"/>
          <a:ext cx="0" cy="0"/>
          <a:chOff x="0" y="0"/>
          <a:chExt cx="0" cy="0"/>
        </a:xfrm>
      </p:grpSpPr>
      <p:sp>
        <p:nvSpPr>
          <p:cNvPr id="49" name="Google Shape;49;p3"/>
          <p:cNvSpPr/>
          <p:nvPr/>
        </p:nvSpPr>
        <p:spPr>
          <a:xfrm rot="10800000" flipH="1">
            <a:off x="-94969" y="303826"/>
            <a:ext cx="1034700" cy="8958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0" name="Google Shape;50;p3"/>
          <p:cNvSpPr/>
          <p:nvPr/>
        </p:nvSpPr>
        <p:spPr>
          <a:xfrm rot="5400000">
            <a:off x="559400" y="1538825"/>
            <a:ext cx="1788000" cy="2064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1" name="Google Shape;51;p3"/>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52" name="Google Shape;52;p3"/>
          <p:cNvSpPr txBox="1">
            <a:spLocks noGrp="1"/>
          </p:cNvSpPr>
          <p:nvPr>
            <p:ph type="subTitle" idx="1"/>
          </p:nvPr>
        </p:nvSpPr>
        <p:spPr>
          <a:xfrm>
            <a:off x="2743200" y="2821004"/>
            <a:ext cx="5696100" cy="78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3"/>
          <p:cNvSpPr/>
          <p:nvPr/>
        </p:nvSpPr>
        <p:spPr>
          <a:xfrm rot="10800000" flipH="1">
            <a:off x="66674" y="313542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flipH="1">
            <a:off x="828675" y="351655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flipH="1">
            <a:off x="761999" y="8779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flipH="1">
            <a:off x="793851" y="4692801"/>
            <a:ext cx="517500" cy="4479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 name="Google Shape;57;p3"/>
          <p:cNvGrpSpPr/>
          <p:nvPr/>
        </p:nvGrpSpPr>
        <p:grpSpPr>
          <a:xfrm>
            <a:off x="996359" y="1070668"/>
            <a:ext cx="351204" cy="324661"/>
            <a:chOff x="5975075" y="2327500"/>
            <a:chExt cx="420100" cy="388350"/>
          </a:xfrm>
        </p:grpSpPr>
        <p:sp>
          <p:nvSpPr>
            <p:cNvPr id="58" name="Google Shape;58;p3"/>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3"/>
          <p:cNvSpPr/>
          <p:nvPr/>
        </p:nvSpPr>
        <p:spPr>
          <a:xfrm>
            <a:off x="393600" y="334662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3"/>
          <p:cNvGrpSpPr/>
          <p:nvPr/>
        </p:nvGrpSpPr>
        <p:grpSpPr>
          <a:xfrm>
            <a:off x="305253" y="553856"/>
            <a:ext cx="247469" cy="392302"/>
            <a:chOff x="6718575" y="2318625"/>
            <a:chExt cx="256950" cy="407375"/>
          </a:xfrm>
        </p:grpSpPr>
        <p:sp>
          <p:nvSpPr>
            <p:cNvPr id="62" name="Google Shape;62;p3"/>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3"/>
          <p:cNvGrpSpPr/>
          <p:nvPr/>
        </p:nvGrpSpPr>
        <p:grpSpPr>
          <a:xfrm>
            <a:off x="1419984" y="3634331"/>
            <a:ext cx="342882" cy="350068"/>
            <a:chOff x="3951850" y="2985350"/>
            <a:chExt cx="407950" cy="416500"/>
          </a:xfrm>
        </p:grpSpPr>
        <p:sp>
          <p:nvSpPr>
            <p:cNvPr id="71" name="Google Shape;71;p3"/>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75;p3"/>
          <p:cNvSpPr/>
          <p:nvPr/>
        </p:nvSpPr>
        <p:spPr>
          <a:xfrm rot="10800000" flipH="1">
            <a:off x="733424" y="3936025"/>
            <a:ext cx="819900" cy="7101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rot="10800000" flipH="1">
            <a:off x="738525" y="100850"/>
            <a:ext cx="428700" cy="3711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rot="10800000" flipH="1">
            <a:off x="-291325" y="4148475"/>
            <a:ext cx="1182300" cy="10236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rot="10800000" flipH="1">
            <a:off x="420725" y="-65225"/>
            <a:ext cx="358800" cy="3105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1019338" y="4167058"/>
            <a:ext cx="248073" cy="248058"/>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3"/>
          <p:cNvGrpSpPr/>
          <p:nvPr/>
        </p:nvGrpSpPr>
        <p:grpSpPr>
          <a:xfrm>
            <a:off x="-50285" y="1452794"/>
            <a:ext cx="624844" cy="599376"/>
            <a:chOff x="5241175" y="4959100"/>
            <a:chExt cx="539775" cy="517775"/>
          </a:xfrm>
        </p:grpSpPr>
        <p:sp>
          <p:nvSpPr>
            <p:cNvPr id="81" name="Google Shape;81;p3"/>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3"/>
          <p:cNvSpPr/>
          <p:nvPr/>
        </p:nvSpPr>
        <p:spPr>
          <a:xfrm>
            <a:off x="47199" y="4430470"/>
            <a:ext cx="505231" cy="459562"/>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1"/>
        <p:cNvGrpSpPr/>
        <p:nvPr/>
      </p:nvGrpSpPr>
      <p:grpSpPr>
        <a:xfrm>
          <a:off x="0" y="0"/>
          <a:ext cx="0" cy="0"/>
          <a:chOff x="0" y="0"/>
          <a:chExt cx="0" cy="0"/>
        </a:xfrm>
      </p:grpSpPr>
      <p:sp>
        <p:nvSpPr>
          <p:cNvPr id="322" name="Google Shape;322;p10"/>
          <p:cNvSpPr/>
          <p:nvPr/>
        </p:nvSpPr>
        <p:spPr>
          <a:xfrm rot="10800000" flipH="1">
            <a:off x="8218352" y="4121459"/>
            <a:ext cx="685200" cy="5934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3" name="Google Shape;323;p10"/>
          <p:cNvSpPr/>
          <p:nvPr/>
        </p:nvSpPr>
        <p:spPr>
          <a:xfrm rot="5400000">
            <a:off x="388487" y="105212"/>
            <a:ext cx="944100" cy="10902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4" name="Google Shape;324;p10"/>
          <p:cNvSpPr/>
          <p:nvPr/>
        </p:nvSpPr>
        <p:spPr>
          <a:xfrm rot="10800000" flipH="1">
            <a:off x="-123825" y="847791"/>
            <a:ext cx="674400" cy="5844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0"/>
          <p:cNvSpPr/>
          <p:nvPr/>
        </p:nvSpPr>
        <p:spPr>
          <a:xfrm rot="10800000" flipH="1">
            <a:off x="503116" y="1161450"/>
            <a:ext cx="352800" cy="3054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p:nvPr/>
        </p:nvSpPr>
        <p:spPr>
          <a:xfrm rot="10800000" flipH="1">
            <a:off x="1208424" y="-131812"/>
            <a:ext cx="674400" cy="5844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p:nvPr/>
        </p:nvSpPr>
        <p:spPr>
          <a:xfrm rot="10800000" flipH="1">
            <a:off x="247753" y="49693"/>
            <a:ext cx="295200" cy="2556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rot="10800000" flipH="1">
            <a:off x="8763568" y="4485979"/>
            <a:ext cx="543000" cy="4704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0"/>
          <p:cNvSpPr/>
          <p:nvPr/>
        </p:nvSpPr>
        <p:spPr>
          <a:xfrm rot="10800000" flipH="1">
            <a:off x="8523810" y="4741100"/>
            <a:ext cx="284100" cy="2457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rot="10800000" flipH="1">
            <a:off x="8322785" y="3628023"/>
            <a:ext cx="543000" cy="470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0"/>
          <p:cNvSpPr/>
          <p:nvPr/>
        </p:nvSpPr>
        <p:spPr>
          <a:xfrm rot="10800000" flipH="1">
            <a:off x="8763569" y="4009882"/>
            <a:ext cx="237600" cy="2058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E29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32700" y="1735600"/>
            <a:ext cx="4944300" cy="645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1pPr>
            <a:lvl2pPr lvl="1">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2pPr>
            <a:lvl3pPr lvl="2">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3pPr>
            <a:lvl4pPr lvl="3">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4pPr>
            <a:lvl5pPr lvl="4">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5pPr>
            <a:lvl6pPr lvl="5">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6pPr>
            <a:lvl7pPr lvl="6">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7pPr>
            <a:lvl8pPr lvl="7">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8pPr>
            <a:lvl9pPr lvl="8">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9pPr>
          </a:lstStyle>
          <a:p>
            <a:endParaRPr/>
          </a:p>
        </p:txBody>
      </p:sp>
      <p:sp>
        <p:nvSpPr>
          <p:cNvPr id="7" name="Google Shape;7;p1"/>
          <p:cNvSpPr txBox="1">
            <a:spLocks noGrp="1"/>
          </p:cNvSpPr>
          <p:nvPr>
            <p:ph type="body" idx="1"/>
          </p:nvPr>
        </p:nvSpPr>
        <p:spPr>
          <a:xfrm>
            <a:off x="1732700" y="2255125"/>
            <a:ext cx="4944300" cy="1659900"/>
          </a:xfrm>
          <a:prstGeom prst="rect">
            <a:avLst/>
          </a:prstGeom>
          <a:noFill/>
          <a:ln>
            <a:noFill/>
          </a:ln>
        </p:spPr>
        <p:txBody>
          <a:bodyPr spcFirstLastPara="1" wrap="square" lIns="91425" tIns="91425" rIns="91425" bIns="91425" anchor="t" anchorCtr="0">
            <a:noAutofit/>
          </a:bodyPr>
          <a:lstStyle>
            <a:lvl1pPr marL="457200" lvl="0" indent="-317500">
              <a:spcBef>
                <a:spcPts val="600"/>
              </a:spcBef>
              <a:spcAft>
                <a:spcPts val="0"/>
              </a:spcAft>
              <a:buClr>
                <a:srgbClr val="19BBD5"/>
              </a:buClr>
              <a:buSzPts val="1400"/>
              <a:buFont typeface="Muli"/>
              <a:buChar char="◇"/>
              <a:defRPr>
                <a:solidFill>
                  <a:srgbClr val="C6DAEC"/>
                </a:solidFill>
                <a:latin typeface="Muli"/>
                <a:ea typeface="Muli"/>
                <a:cs typeface="Muli"/>
                <a:sym typeface="Muli"/>
              </a:defRPr>
            </a:lvl1pPr>
            <a:lvl2pPr marL="914400" lvl="1"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2pPr>
            <a:lvl3pPr marL="1371600" lvl="2"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3pPr>
            <a:lvl4pPr marL="1828800" lvl="3"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4pPr>
            <a:lvl5pPr marL="2286000" lvl="4"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5pPr>
            <a:lvl6pPr marL="2743200" lvl="5"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6pPr>
            <a:lvl7pPr marL="3200400" lvl="6"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7pPr>
            <a:lvl8pPr marL="3657600" lvl="7"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8pPr>
            <a:lvl9pPr marL="4114800" lvl="8"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13557" y="4785525"/>
            <a:ext cx="548700" cy="357900"/>
          </a:xfrm>
          <a:prstGeom prst="rect">
            <a:avLst/>
          </a:prstGeom>
          <a:noFill/>
          <a:ln>
            <a:noFill/>
          </a:ln>
        </p:spPr>
        <p:txBody>
          <a:bodyPr spcFirstLastPara="1" wrap="square" lIns="91425" tIns="91425" rIns="91425" bIns="91425" anchor="t" anchorCtr="0">
            <a:noAutofit/>
          </a:bodyPr>
          <a:lstStyle>
            <a:lvl1pPr lvl="0">
              <a:buNone/>
              <a:defRPr sz="1200">
                <a:solidFill>
                  <a:srgbClr val="19BBD5"/>
                </a:solidFill>
                <a:latin typeface="Nixie One"/>
                <a:ea typeface="Nixie One"/>
                <a:cs typeface="Nixie One"/>
                <a:sym typeface="Nixie One"/>
              </a:defRPr>
            </a:lvl1pPr>
            <a:lvl2pPr lvl="1">
              <a:buNone/>
              <a:defRPr sz="1200">
                <a:solidFill>
                  <a:srgbClr val="19BBD5"/>
                </a:solidFill>
                <a:latin typeface="Nixie One"/>
                <a:ea typeface="Nixie One"/>
                <a:cs typeface="Nixie One"/>
                <a:sym typeface="Nixie One"/>
              </a:defRPr>
            </a:lvl2pPr>
            <a:lvl3pPr lvl="2">
              <a:buNone/>
              <a:defRPr sz="1200">
                <a:solidFill>
                  <a:srgbClr val="19BBD5"/>
                </a:solidFill>
                <a:latin typeface="Nixie One"/>
                <a:ea typeface="Nixie One"/>
                <a:cs typeface="Nixie One"/>
                <a:sym typeface="Nixie One"/>
              </a:defRPr>
            </a:lvl3pPr>
            <a:lvl4pPr lvl="3">
              <a:buNone/>
              <a:defRPr sz="1200">
                <a:solidFill>
                  <a:srgbClr val="19BBD5"/>
                </a:solidFill>
                <a:latin typeface="Nixie One"/>
                <a:ea typeface="Nixie One"/>
                <a:cs typeface="Nixie One"/>
                <a:sym typeface="Nixie One"/>
              </a:defRPr>
            </a:lvl4pPr>
            <a:lvl5pPr lvl="4">
              <a:buNone/>
              <a:defRPr sz="1200">
                <a:solidFill>
                  <a:srgbClr val="19BBD5"/>
                </a:solidFill>
                <a:latin typeface="Nixie One"/>
                <a:ea typeface="Nixie One"/>
                <a:cs typeface="Nixie One"/>
                <a:sym typeface="Nixie One"/>
              </a:defRPr>
            </a:lvl5pPr>
            <a:lvl6pPr lvl="5">
              <a:buNone/>
              <a:defRPr sz="1200">
                <a:solidFill>
                  <a:srgbClr val="19BBD5"/>
                </a:solidFill>
                <a:latin typeface="Nixie One"/>
                <a:ea typeface="Nixie One"/>
                <a:cs typeface="Nixie One"/>
                <a:sym typeface="Nixie One"/>
              </a:defRPr>
            </a:lvl6pPr>
            <a:lvl7pPr lvl="6">
              <a:buNone/>
              <a:defRPr sz="1200">
                <a:solidFill>
                  <a:srgbClr val="19BBD5"/>
                </a:solidFill>
                <a:latin typeface="Nixie One"/>
                <a:ea typeface="Nixie One"/>
                <a:cs typeface="Nixie One"/>
                <a:sym typeface="Nixie One"/>
              </a:defRPr>
            </a:lvl7pPr>
            <a:lvl8pPr lvl="7">
              <a:buNone/>
              <a:defRPr sz="1200">
                <a:solidFill>
                  <a:srgbClr val="19BBD5"/>
                </a:solidFill>
                <a:latin typeface="Nixie One"/>
                <a:ea typeface="Nixie One"/>
                <a:cs typeface="Nixie One"/>
                <a:sym typeface="Nixie One"/>
              </a:defRPr>
            </a:lvl8pPr>
            <a:lvl9pPr lvl="8">
              <a:buNone/>
              <a:defRPr sz="1200">
                <a:solidFill>
                  <a:srgbClr val="19BBD5"/>
                </a:solidFill>
                <a:latin typeface="Nixie One"/>
                <a:ea typeface="Nixie One"/>
                <a:cs typeface="Nixie One"/>
                <a:sym typeface="Nixie One"/>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1"/>
          <p:cNvSpPr txBox="1">
            <a:spLocks noGrp="1"/>
          </p:cNvSpPr>
          <p:nvPr>
            <p:ph type="ctrTitle"/>
          </p:nvPr>
        </p:nvSpPr>
        <p:spPr>
          <a:xfrm>
            <a:off x="1524000" y="2343150"/>
            <a:ext cx="6343500" cy="14181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b="1" dirty="0"/>
              <a:t>JS Design Pattern Day3</a:t>
            </a:r>
            <a:br>
              <a:rPr lang="en" sz="3200" b="1" dirty="0"/>
            </a:br>
            <a:br>
              <a:rPr lang="en" sz="3200" dirty="0"/>
            </a:br>
            <a:r>
              <a:rPr lang="en" sz="3200" dirty="0"/>
              <a:t>Presented By :Asmaa Ahmed</a:t>
            </a:r>
            <a:br>
              <a:rPr lang="en" sz="3200" dirty="0"/>
            </a:br>
            <a:br>
              <a:rPr lang="en" sz="3200" dirty="0"/>
            </a:br>
            <a:endParaRP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p>
            <a:r>
              <a:rPr lang="en-US" b="1" dirty="0"/>
              <a:t>Facade Pattern</a:t>
            </a:r>
          </a:p>
        </p:txBody>
      </p:sp>
      <p:sp>
        <p:nvSpPr>
          <p:cNvPr id="360" name="Google Shape;360;p14"/>
          <p:cNvSpPr txBox="1">
            <a:spLocks noGrp="1"/>
          </p:cNvSpPr>
          <p:nvPr>
            <p:ph type="subTitle" idx="1"/>
          </p:nvPr>
        </p:nvSpPr>
        <p:spPr>
          <a:xfrm>
            <a:off x="2743200" y="2821004"/>
            <a:ext cx="5696100" cy="2189146"/>
          </a:xfrm>
          <a:prstGeom prst="rect">
            <a:avLst/>
          </a:prstGeom>
        </p:spPr>
        <p:txBody>
          <a:bodyPr spcFirstLastPara="1" wrap="square" lIns="91425" tIns="91425" rIns="91425" bIns="91425" anchor="t" anchorCtr="0">
            <a:noAutofit/>
          </a:bodyPr>
          <a:lstStyle/>
          <a:p>
            <a:pPr marL="0" lvl="0" indent="0"/>
            <a:r>
              <a:rPr lang="en-US" b="0" i="0" dirty="0">
                <a:solidFill>
                  <a:schemeClr val="tx1"/>
                </a:solidFill>
                <a:effectLst/>
                <a:latin typeface="Google Sans"/>
              </a:rPr>
              <a:t>Facade is a structural design pattern that provides a simplified interface to a library, a framework, or any other complex set of classes.</a:t>
            </a:r>
          </a:p>
          <a:p>
            <a:pPr marL="0" lvl="0" indent="0"/>
            <a:endParaRPr lang="en-US" b="0" i="0" dirty="0">
              <a:solidFill>
                <a:schemeClr val="tx1"/>
              </a:solidFill>
              <a:effectLst/>
              <a:latin typeface="Google Sans"/>
            </a:endParaRPr>
          </a:p>
          <a:p>
            <a:pPr marL="0" lvl="0" indent="0"/>
            <a:r>
              <a:rPr lang="en-US" b="0" i="0" dirty="0">
                <a:solidFill>
                  <a:schemeClr val="tx1"/>
                </a:solidFill>
                <a:effectLst/>
                <a:latin typeface="Google Sans"/>
              </a:rPr>
              <a:t> this pattern adds an interface to existing system to hide its complexities.</a:t>
            </a:r>
          </a:p>
          <a:p>
            <a:pPr marL="0" lvl="0" indent="0"/>
            <a:endParaRPr lang="en-US" b="0" i="0" dirty="0">
              <a:solidFill>
                <a:schemeClr val="tx1"/>
              </a:solidFill>
              <a:effectLst/>
              <a:latin typeface="Google Sans"/>
            </a:endParaRPr>
          </a:p>
          <a:p>
            <a:pPr marL="0" lvl="0" indent="0"/>
            <a:r>
              <a:rPr lang="en-US" b="0" i="0" dirty="0">
                <a:solidFill>
                  <a:schemeClr val="tx1"/>
                </a:solidFill>
                <a:effectLst/>
                <a:latin typeface="Google Sans"/>
              </a:rPr>
              <a:t>This pattern involves a single class which provides simplified methods required by client and delegates calls to methods of existing system classes.</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ea typeface="Nixie One"/>
                <a:cs typeface="Nixie One"/>
                <a:sym typeface="Nixie One"/>
              </a:rPr>
              <a:t>1</a:t>
            </a:r>
            <a:endParaRPr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362200" y="0"/>
            <a:ext cx="5257800" cy="781000"/>
          </a:xfrm>
          <a:prstGeom prst="rect">
            <a:avLst/>
          </a:prstGeom>
        </p:spPr>
        <p:txBody>
          <a:bodyPr spcFirstLastPara="1" wrap="square" lIns="91425" tIns="91425" rIns="91425" bIns="91425" anchor="b" anchorCtr="0">
            <a:noAutofit/>
          </a:bodyPr>
          <a:lstStyle/>
          <a:p>
            <a:r>
              <a:rPr lang="en-US" b="1" dirty="0"/>
              <a:t>Facade Pattern</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ea typeface="Nixie One"/>
                <a:cs typeface="Nixie One"/>
                <a:sym typeface="Nixie One"/>
              </a:rPr>
              <a:t>1</a:t>
            </a:r>
            <a:endParaRPr b="1" dirty="0">
              <a:solidFill>
                <a:srgbClr val="FFFFFF"/>
              </a:solidFill>
            </a:endParaRPr>
          </a:p>
        </p:txBody>
      </p:sp>
      <p:pic>
        <p:nvPicPr>
          <p:cNvPr id="5" name="Picture 4">
            <a:extLst>
              <a:ext uri="{FF2B5EF4-FFF2-40B4-BE49-F238E27FC236}">
                <a16:creationId xmlns:a16="http://schemas.microsoft.com/office/drawing/2014/main" id="{AF39877C-DCB2-BE46-350A-CE4EED64B4FE}"/>
              </a:ext>
            </a:extLst>
          </p:cNvPr>
          <p:cNvPicPr>
            <a:picLocks noChangeAspect="1"/>
          </p:cNvPicPr>
          <p:nvPr/>
        </p:nvPicPr>
        <p:blipFill>
          <a:blip r:embed="rId3"/>
          <a:stretch>
            <a:fillRect/>
          </a:stretch>
        </p:blipFill>
        <p:spPr>
          <a:xfrm>
            <a:off x="2895600" y="781000"/>
            <a:ext cx="3820217" cy="4324350"/>
          </a:xfrm>
          <a:prstGeom prst="rect">
            <a:avLst/>
          </a:prstGeom>
        </p:spPr>
      </p:pic>
    </p:spTree>
    <p:extLst>
      <p:ext uri="{BB962C8B-B14F-4D97-AF65-F5344CB8AC3E}">
        <p14:creationId xmlns:p14="http://schemas.microsoft.com/office/powerpoint/2010/main" val="3650095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p>
            <a:r>
              <a:rPr lang="en-US" b="1" dirty="0"/>
              <a:t>Decorator Pattern</a:t>
            </a:r>
          </a:p>
        </p:txBody>
      </p:sp>
      <p:sp>
        <p:nvSpPr>
          <p:cNvPr id="360" name="Google Shape;360;p14"/>
          <p:cNvSpPr txBox="1">
            <a:spLocks noGrp="1"/>
          </p:cNvSpPr>
          <p:nvPr>
            <p:ph type="subTitle" idx="1"/>
          </p:nvPr>
        </p:nvSpPr>
        <p:spPr>
          <a:xfrm>
            <a:off x="2743200" y="2821004"/>
            <a:ext cx="5696100" cy="2265346"/>
          </a:xfrm>
          <a:prstGeom prst="rect">
            <a:avLst/>
          </a:prstGeom>
        </p:spPr>
        <p:txBody>
          <a:bodyPr spcFirstLastPara="1" wrap="square" lIns="91425" tIns="91425" rIns="91425" bIns="91425" anchor="t" anchorCtr="0">
            <a:noAutofit/>
          </a:bodyPr>
          <a:lstStyle/>
          <a:p>
            <a:pPr marL="0" lvl="0" indent="0"/>
            <a:r>
              <a:rPr lang="en-US" sz="2000" b="0" i="0" dirty="0">
                <a:solidFill>
                  <a:schemeClr val="tx1"/>
                </a:solidFill>
                <a:effectLst/>
                <a:latin typeface="Lato" panose="020F0502020204030203" pitchFamily="34" charset="0"/>
              </a:rPr>
              <a:t>Decorator is a structural design pattern that lets you attach new behaviors to objects by placing these objects inside special wrapper objects that contain the behaviors.</a:t>
            </a:r>
            <a:endParaRPr sz="1600" dirty="0">
              <a:solidFill>
                <a:schemeClr val="tx1"/>
              </a:solidFill>
            </a:endParaRP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2</a:t>
            </a:r>
            <a:endParaRPr b="1" dirty="0">
              <a:solidFill>
                <a:srgbClr val="FFFFFF"/>
              </a:solidFill>
            </a:endParaRPr>
          </a:p>
        </p:txBody>
      </p:sp>
    </p:spTree>
    <p:extLst>
      <p:ext uri="{BB962C8B-B14F-4D97-AF65-F5344CB8AC3E}">
        <p14:creationId xmlns:p14="http://schemas.microsoft.com/office/powerpoint/2010/main" val="299835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362200" y="438150"/>
            <a:ext cx="4572000" cy="857200"/>
          </a:xfrm>
          <a:prstGeom prst="rect">
            <a:avLst/>
          </a:prstGeom>
        </p:spPr>
        <p:txBody>
          <a:bodyPr spcFirstLastPara="1" wrap="square" lIns="91425" tIns="91425" rIns="91425" bIns="91425" anchor="b" anchorCtr="0">
            <a:noAutofit/>
          </a:bodyPr>
          <a:lstStyle/>
          <a:p>
            <a:r>
              <a:rPr lang="en-US" b="1" dirty="0"/>
              <a:t>Decorator Pattern</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2</a:t>
            </a:r>
            <a:endParaRPr b="1" dirty="0">
              <a:solidFill>
                <a:srgbClr val="FFFFFF"/>
              </a:solidFill>
            </a:endParaRPr>
          </a:p>
        </p:txBody>
      </p:sp>
      <p:pic>
        <p:nvPicPr>
          <p:cNvPr id="5" name="Picture 4">
            <a:extLst>
              <a:ext uri="{FF2B5EF4-FFF2-40B4-BE49-F238E27FC236}">
                <a16:creationId xmlns:a16="http://schemas.microsoft.com/office/drawing/2014/main" id="{2FF9DFDA-EE98-2CC0-68E9-3B8F84A5AB96}"/>
              </a:ext>
            </a:extLst>
          </p:cNvPr>
          <p:cNvPicPr>
            <a:picLocks noChangeAspect="1"/>
          </p:cNvPicPr>
          <p:nvPr/>
        </p:nvPicPr>
        <p:blipFill>
          <a:blip r:embed="rId3"/>
          <a:stretch>
            <a:fillRect/>
          </a:stretch>
        </p:blipFill>
        <p:spPr>
          <a:xfrm>
            <a:off x="3124200" y="1233221"/>
            <a:ext cx="4572000" cy="3874169"/>
          </a:xfrm>
          <a:prstGeom prst="rect">
            <a:avLst/>
          </a:prstGeom>
        </p:spPr>
      </p:pic>
    </p:spTree>
    <p:extLst>
      <p:ext uri="{BB962C8B-B14F-4D97-AF65-F5344CB8AC3E}">
        <p14:creationId xmlns:p14="http://schemas.microsoft.com/office/powerpoint/2010/main" val="1631354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p>
            <a:r>
              <a:rPr lang="en-US" b="1" dirty="0"/>
              <a:t>Adapter Pattern</a:t>
            </a:r>
          </a:p>
        </p:txBody>
      </p:sp>
      <p:sp>
        <p:nvSpPr>
          <p:cNvPr id="360" name="Google Shape;360;p14"/>
          <p:cNvSpPr txBox="1">
            <a:spLocks noGrp="1"/>
          </p:cNvSpPr>
          <p:nvPr>
            <p:ph type="subTitle" idx="1"/>
          </p:nvPr>
        </p:nvSpPr>
        <p:spPr>
          <a:xfrm>
            <a:off x="2743200" y="2821004"/>
            <a:ext cx="5696100" cy="2265346"/>
          </a:xfrm>
          <a:prstGeom prst="rect">
            <a:avLst/>
          </a:prstGeom>
        </p:spPr>
        <p:txBody>
          <a:bodyPr spcFirstLastPara="1" wrap="square" lIns="91425" tIns="91425" rIns="91425" bIns="91425" anchor="t" anchorCtr="0">
            <a:noAutofit/>
          </a:bodyPr>
          <a:lstStyle/>
          <a:p>
            <a:pPr marL="0" lvl="0" indent="0"/>
            <a:r>
              <a:rPr lang="en-US" sz="2000" b="0" i="0" dirty="0">
                <a:solidFill>
                  <a:schemeClr val="tx1"/>
                </a:solidFill>
                <a:effectLst/>
                <a:latin typeface="Lato" panose="020F0502020204030203" pitchFamily="34" charset="0"/>
              </a:rPr>
              <a:t>An Adapter Pattern says that just "converts the interface of a class into another interface that a client wants". In other words, to provide the interface according to client requirement while using the services of a class with a different interface.</a:t>
            </a:r>
            <a:endParaRPr sz="1600" dirty="0">
              <a:solidFill>
                <a:schemeClr val="tx1"/>
              </a:solidFill>
            </a:endParaRP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3</a:t>
            </a:r>
            <a:endParaRPr b="1" dirty="0">
              <a:solidFill>
                <a:srgbClr val="FFFFFF"/>
              </a:solidFill>
            </a:endParaRPr>
          </a:p>
        </p:txBody>
      </p:sp>
    </p:spTree>
    <p:extLst>
      <p:ext uri="{BB962C8B-B14F-4D97-AF65-F5344CB8AC3E}">
        <p14:creationId xmlns:p14="http://schemas.microsoft.com/office/powerpoint/2010/main" val="2983202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590800" y="209550"/>
            <a:ext cx="4800600" cy="704800"/>
          </a:xfrm>
          <a:prstGeom prst="rect">
            <a:avLst/>
          </a:prstGeom>
        </p:spPr>
        <p:txBody>
          <a:bodyPr spcFirstLastPara="1" wrap="square" lIns="91425" tIns="91425" rIns="91425" bIns="91425" anchor="b" anchorCtr="0">
            <a:noAutofit/>
          </a:bodyPr>
          <a:lstStyle/>
          <a:p>
            <a:r>
              <a:rPr lang="en-US" b="1" dirty="0"/>
              <a:t>Adapter Pattern</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3</a:t>
            </a:r>
            <a:endParaRPr b="1" dirty="0">
              <a:solidFill>
                <a:srgbClr val="FFFFFF"/>
              </a:solidFill>
            </a:endParaRPr>
          </a:p>
        </p:txBody>
      </p:sp>
      <p:pic>
        <p:nvPicPr>
          <p:cNvPr id="5" name="Picture 4">
            <a:extLst>
              <a:ext uri="{FF2B5EF4-FFF2-40B4-BE49-F238E27FC236}">
                <a16:creationId xmlns:a16="http://schemas.microsoft.com/office/drawing/2014/main" id="{A07130C7-BA18-AA66-526F-702F169B2053}"/>
              </a:ext>
            </a:extLst>
          </p:cNvPr>
          <p:cNvPicPr>
            <a:picLocks noChangeAspect="1"/>
          </p:cNvPicPr>
          <p:nvPr/>
        </p:nvPicPr>
        <p:blipFill>
          <a:blip r:embed="rId3"/>
          <a:stretch>
            <a:fillRect/>
          </a:stretch>
        </p:blipFill>
        <p:spPr>
          <a:xfrm>
            <a:off x="3245229" y="914350"/>
            <a:ext cx="3491741" cy="4171950"/>
          </a:xfrm>
          <a:prstGeom prst="rect">
            <a:avLst/>
          </a:prstGeom>
        </p:spPr>
      </p:pic>
    </p:spTree>
    <p:extLst>
      <p:ext uri="{BB962C8B-B14F-4D97-AF65-F5344CB8AC3E}">
        <p14:creationId xmlns:p14="http://schemas.microsoft.com/office/powerpoint/2010/main" val="474103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3"/>
          <p:cNvSpPr txBox="1">
            <a:spLocks noGrp="1"/>
          </p:cNvSpPr>
          <p:nvPr>
            <p:ph type="ctrTitle" idx="4294967295"/>
          </p:nvPr>
        </p:nvSpPr>
        <p:spPr>
          <a:xfrm>
            <a:off x="1676400" y="133350"/>
            <a:ext cx="6705600" cy="1219200"/>
          </a:xfrm>
          <a:prstGeom prst="rect">
            <a:avLst/>
          </a:prstGeom>
        </p:spPr>
        <p:txBody>
          <a:bodyPr spcFirstLastPara="1" wrap="square" lIns="91425" tIns="91425" rIns="91425" bIns="91425" anchor="b" anchorCtr="0">
            <a:noAutofit/>
          </a:bodyPr>
          <a:lstStyle/>
          <a:p>
            <a:r>
              <a:rPr lang="en-US" sz="2800" b="1" dirty="0"/>
              <a:t>Solid Principles</a:t>
            </a:r>
          </a:p>
        </p:txBody>
      </p:sp>
      <p:sp>
        <p:nvSpPr>
          <p:cNvPr id="354" name="Google Shape;354;p13"/>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8</a:t>
            </a:fld>
            <a:endParaRPr/>
          </a:p>
        </p:txBody>
      </p:sp>
      <p:sp>
        <p:nvSpPr>
          <p:cNvPr id="2" name="AutoShape 2" descr="Types of Design Pattern - Scaler Topics">
            <a:extLst>
              <a:ext uri="{FF2B5EF4-FFF2-40B4-BE49-F238E27FC236}">
                <a16:creationId xmlns:a16="http://schemas.microsoft.com/office/drawing/2014/main" id="{064B4161-587B-FC82-04E8-B2A78BFE664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Types of Design Pattern - Scaler Topics">
            <a:extLst>
              <a:ext uri="{FF2B5EF4-FFF2-40B4-BE49-F238E27FC236}">
                <a16:creationId xmlns:a16="http://schemas.microsoft.com/office/drawing/2014/main" id="{DBB49A13-7CAD-8B8A-6344-FFE6F82333BA}"/>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9F5CC3D0-BA15-4D67-41B1-2C88640D6632}"/>
              </a:ext>
            </a:extLst>
          </p:cNvPr>
          <p:cNvSpPr txBox="1"/>
          <p:nvPr/>
        </p:nvSpPr>
        <p:spPr>
          <a:xfrm>
            <a:off x="1647967" y="1352550"/>
            <a:ext cx="5486400" cy="3785652"/>
          </a:xfrm>
          <a:prstGeom prst="rect">
            <a:avLst/>
          </a:prstGeom>
          <a:noFill/>
        </p:spPr>
        <p:txBody>
          <a:bodyPr wrap="square" rtlCol="0">
            <a:spAutoFit/>
          </a:bodyPr>
          <a:lstStyle/>
          <a:p>
            <a:pPr algn="l"/>
            <a:r>
              <a:rPr lang="en-US" sz="1600" dirty="0">
                <a:solidFill>
                  <a:schemeClr val="tx1"/>
                </a:solidFill>
              </a:rPr>
              <a:t>SOLID is an acronym for the first five object-oriented design (OOD)</a:t>
            </a:r>
          </a:p>
          <a:p>
            <a:pPr algn="l"/>
            <a:r>
              <a:rPr lang="en-US" sz="1600" dirty="0">
                <a:solidFill>
                  <a:schemeClr val="tx1"/>
                </a:solidFill>
              </a:rPr>
              <a:t>principles by Robert C. Martin (also known as Uncle Bob).</a:t>
            </a:r>
          </a:p>
          <a:p>
            <a:pPr algn="l"/>
            <a:r>
              <a:rPr lang="en-US" sz="1600" dirty="0">
                <a:solidFill>
                  <a:schemeClr val="tx1"/>
                </a:solidFill>
              </a:rPr>
              <a:t>SOLID is an acronym that stands for five key design principles:</a:t>
            </a:r>
          </a:p>
          <a:p>
            <a:pPr algn="l"/>
            <a:endParaRPr lang="en-US" sz="1600" dirty="0">
              <a:solidFill>
                <a:schemeClr val="tx1"/>
              </a:solidFill>
            </a:endParaRPr>
          </a:p>
          <a:p>
            <a:pPr algn="l"/>
            <a:r>
              <a:rPr lang="en-US" sz="1600" dirty="0">
                <a:solidFill>
                  <a:schemeClr val="tx1"/>
                </a:solidFill>
              </a:rPr>
              <a:t>● single responsibility principle.</a:t>
            </a:r>
          </a:p>
          <a:p>
            <a:pPr algn="l"/>
            <a:r>
              <a:rPr lang="en-US" sz="1600" dirty="0">
                <a:solidFill>
                  <a:schemeClr val="tx1"/>
                </a:solidFill>
              </a:rPr>
              <a:t>● open-closed principle.</a:t>
            </a:r>
          </a:p>
          <a:p>
            <a:pPr algn="l"/>
            <a:r>
              <a:rPr lang="en-US" sz="1600" dirty="0">
                <a:solidFill>
                  <a:schemeClr val="tx1"/>
                </a:solidFill>
              </a:rPr>
              <a:t>● Liskov substitution principle.</a:t>
            </a:r>
          </a:p>
          <a:p>
            <a:pPr algn="l"/>
            <a:r>
              <a:rPr lang="en-US" sz="1600" dirty="0">
                <a:solidFill>
                  <a:schemeClr val="tx1"/>
                </a:solidFill>
              </a:rPr>
              <a:t>● interface segregation principle.</a:t>
            </a:r>
          </a:p>
          <a:p>
            <a:pPr algn="l"/>
            <a:r>
              <a:rPr lang="en-US" sz="1600" dirty="0">
                <a:solidFill>
                  <a:schemeClr val="tx1"/>
                </a:solidFill>
              </a:rPr>
              <a:t>● dependency inversion principle.</a:t>
            </a:r>
          </a:p>
          <a:p>
            <a:pPr algn="l"/>
            <a:endParaRPr lang="en-US" sz="1600" dirty="0">
              <a:solidFill>
                <a:schemeClr val="tx1"/>
              </a:solidFill>
            </a:endParaRPr>
          </a:p>
          <a:p>
            <a:pPr algn="l"/>
            <a:r>
              <a:rPr lang="en-US" sz="1600" dirty="0">
                <a:solidFill>
                  <a:schemeClr val="tx1"/>
                </a:solidFill>
              </a:rPr>
              <a:t>All five are commonly used by software engineers and provide some important</a:t>
            </a:r>
          </a:p>
          <a:p>
            <a:pPr algn="l"/>
            <a:r>
              <a:rPr lang="en-US" sz="1600" dirty="0">
                <a:solidFill>
                  <a:schemeClr val="tx1"/>
                </a:solidFill>
              </a:rPr>
              <a:t>benefits for developers.</a:t>
            </a:r>
          </a:p>
        </p:txBody>
      </p:sp>
    </p:spTree>
    <p:extLst>
      <p:ext uri="{BB962C8B-B14F-4D97-AF65-F5344CB8AC3E}">
        <p14:creationId xmlns:p14="http://schemas.microsoft.com/office/powerpoint/2010/main" val="2618163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800500" y="1885950"/>
            <a:ext cx="5638800" cy="781000"/>
          </a:xfrm>
          <a:prstGeom prst="rect">
            <a:avLst/>
          </a:prstGeom>
        </p:spPr>
        <p:txBody>
          <a:bodyPr spcFirstLastPara="1" wrap="square" lIns="91425" tIns="91425" rIns="91425" bIns="91425" anchor="b" anchorCtr="0">
            <a:noAutofit/>
          </a:bodyPr>
          <a:lstStyle/>
          <a:p>
            <a:r>
              <a:rPr lang="en-US" sz="2800" b="1" dirty="0"/>
              <a:t>Liskov substitution principle</a:t>
            </a:r>
          </a:p>
        </p:txBody>
      </p:sp>
      <p:sp>
        <p:nvSpPr>
          <p:cNvPr id="360" name="Google Shape;360;p14"/>
          <p:cNvSpPr txBox="1">
            <a:spLocks noGrp="1"/>
          </p:cNvSpPr>
          <p:nvPr>
            <p:ph type="subTitle" idx="1"/>
          </p:nvPr>
        </p:nvSpPr>
        <p:spPr>
          <a:xfrm>
            <a:off x="2743200" y="2495550"/>
            <a:ext cx="5696100" cy="2495550"/>
          </a:xfrm>
          <a:prstGeom prst="rect">
            <a:avLst/>
          </a:prstGeom>
        </p:spPr>
        <p:txBody>
          <a:bodyPr spcFirstLastPara="1" wrap="square" lIns="91425" tIns="91425" rIns="91425" bIns="91425" anchor="t" anchorCtr="0">
            <a:noAutofit/>
          </a:bodyPr>
          <a:lstStyle/>
          <a:p>
            <a:pPr marL="0" lvl="0" indent="0"/>
            <a:r>
              <a:rPr lang="en-US" sz="2400" b="0" i="0" dirty="0">
                <a:solidFill>
                  <a:srgbClr val="E8EAED"/>
                </a:solidFill>
                <a:effectLst/>
                <a:latin typeface="Google Sans"/>
              </a:rPr>
              <a:t>In simple terms, the Liskov principle states that we should not replace a parent class with its subclasses if they create unexpected behaviors in the application.</a:t>
            </a:r>
          </a:p>
          <a:p>
            <a:pPr marL="0" lvl="0" indent="0"/>
            <a:r>
              <a:rPr lang="en-US" sz="2400" b="0" i="0" dirty="0">
                <a:solidFill>
                  <a:srgbClr val="E8EAED"/>
                </a:solidFill>
                <a:effectLst/>
                <a:latin typeface="Google Sans"/>
              </a:rPr>
              <a:t>objects of a superclass should be replaceable with objects of its</a:t>
            </a:r>
          </a:p>
          <a:p>
            <a:pPr marL="0" lvl="0" indent="0"/>
            <a:r>
              <a:rPr lang="en-US" sz="2400" b="0" i="0" dirty="0">
                <a:solidFill>
                  <a:srgbClr val="E8EAED"/>
                </a:solidFill>
                <a:effectLst/>
                <a:latin typeface="Google Sans"/>
              </a:rPr>
              <a:t>subclasses without breaking the application.</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4</a:t>
            </a:r>
            <a:endParaRPr b="1" dirty="0">
              <a:solidFill>
                <a:srgbClr val="FFFFFF"/>
              </a:solidFill>
            </a:endParaRPr>
          </a:p>
        </p:txBody>
      </p:sp>
    </p:spTree>
    <p:extLst>
      <p:ext uri="{BB962C8B-B14F-4D97-AF65-F5344CB8AC3E}">
        <p14:creationId xmlns:p14="http://schemas.microsoft.com/office/powerpoint/2010/main" val="171851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2038350"/>
            <a:ext cx="5638800" cy="781000"/>
          </a:xfrm>
          <a:prstGeom prst="rect">
            <a:avLst/>
          </a:prstGeom>
        </p:spPr>
        <p:txBody>
          <a:bodyPr spcFirstLastPara="1" wrap="square" lIns="91425" tIns="91425" rIns="91425" bIns="91425" anchor="b" anchorCtr="0">
            <a:noAutofit/>
          </a:bodyPr>
          <a:lstStyle/>
          <a:p>
            <a:pPr algn="l" fontAlgn="base"/>
            <a:r>
              <a:rPr lang="en-US" sz="3200" b="1" i="0" dirty="0">
                <a:effectLst/>
                <a:latin typeface="-apple-system"/>
              </a:rPr>
              <a:t>Interface Segregation Principle</a:t>
            </a:r>
          </a:p>
        </p:txBody>
      </p:sp>
      <p:sp>
        <p:nvSpPr>
          <p:cNvPr id="360" name="Google Shape;360;p14"/>
          <p:cNvSpPr txBox="1">
            <a:spLocks noGrp="1"/>
          </p:cNvSpPr>
          <p:nvPr>
            <p:ph type="subTitle" idx="1"/>
          </p:nvPr>
        </p:nvSpPr>
        <p:spPr>
          <a:xfrm>
            <a:off x="2743200" y="2724149"/>
            <a:ext cx="5696100" cy="2334143"/>
          </a:xfrm>
          <a:prstGeom prst="rect">
            <a:avLst/>
          </a:prstGeom>
        </p:spPr>
        <p:txBody>
          <a:bodyPr spcFirstLastPara="1" wrap="square" lIns="91425" tIns="91425" rIns="91425" bIns="91425" anchor="t" anchorCtr="0">
            <a:noAutofit/>
          </a:bodyPr>
          <a:lstStyle/>
          <a:p>
            <a:pPr marL="0" lvl="0" indent="0"/>
            <a:r>
              <a:rPr lang="en-US" sz="1800" dirty="0"/>
              <a:t>This principle states that classes should never implement interfaces that they don't need to use. If they do, we'll end up having not implemented methods in our classes.</a:t>
            </a:r>
          </a:p>
          <a:p>
            <a:pPr marL="0" lvl="0" indent="0"/>
            <a:r>
              <a:rPr lang="en-US" sz="1800" dirty="0"/>
              <a:t>Clients should not be forced to depend upon interfaces that they do not use.</a:t>
            </a:r>
            <a:endParaRPr sz="1800" dirty="0"/>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5</a:t>
            </a:r>
            <a:endParaRPr b="1" dirty="0">
              <a:solidFill>
                <a:srgbClr val="FFFFFF"/>
              </a:solidFill>
            </a:endParaRPr>
          </a:p>
        </p:txBody>
      </p:sp>
    </p:spTree>
    <p:extLst>
      <p:ext uri="{BB962C8B-B14F-4D97-AF65-F5344CB8AC3E}">
        <p14:creationId xmlns:p14="http://schemas.microsoft.com/office/powerpoint/2010/main" val="317267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2038350"/>
            <a:ext cx="5638800" cy="781000"/>
          </a:xfrm>
          <a:prstGeom prst="rect">
            <a:avLst/>
          </a:prstGeom>
        </p:spPr>
        <p:txBody>
          <a:bodyPr spcFirstLastPara="1" wrap="square" lIns="91425" tIns="91425" rIns="91425" bIns="91425" anchor="b" anchorCtr="0">
            <a:noAutofit/>
          </a:bodyPr>
          <a:lstStyle/>
          <a:p>
            <a:pPr algn="l" fontAlgn="base"/>
            <a:r>
              <a:rPr lang="en-US" sz="3200" b="1" i="0" dirty="0">
                <a:effectLst/>
                <a:latin typeface="-apple-system"/>
              </a:rPr>
              <a:t>MVC</a:t>
            </a:r>
          </a:p>
        </p:txBody>
      </p:sp>
      <p:sp>
        <p:nvSpPr>
          <p:cNvPr id="360" name="Google Shape;360;p14"/>
          <p:cNvSpPr txBox="1">
            <a:spLocks noGrp="1"/>
          </p:cNvSpPr>
          <p:nvPr>
            <p:ph type="subTitle" idx="1"/>
          </p:nvPr>
        </p:nvSpPr>
        <p:spPr>
          <a:xfrm>
            <a:off x="2743200" y="2724149"/>
            <a:ext cx="5696100" cy="2334143"/>
          </a:xfrm>
          <a:prstGeom prst="rect">
            <a:avLst/>
          </a:prstGeom>
        </p:spPr>
        <p:txBody>
          <a:bodyPr spcFirstLastPara="1" wrap="square" lIns="91425" tIns="91425" rIns="91425" bIns="91425" anchor="t" anchorCtr="0">
            <a:noAutofit/>
          </a:bodyPr>
          <a:lstStyle/>
          <a:p>
            <a:pPr marL="0" lvl="0" indent="0"/>
            <a:r>
              <a:rPr lang="en-US" sz="1800" dirty="0"/>
              <a:t>Model–view–controller (MVC) is a software design pattern commonly used for developing user interfaces that divides the related program logic into three interconnected elements. This is done to separate internal representations of information from the ways information is presented to and accepted from the user.</a:t>
            </a:r>
            <a:endParaRPr sz="1800" dirty="0"/>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6</a:t>
            </a:r>
            <a:endParaRPr b="1" dirty="0">
              <a:solidFill>
                <a:srgbClr val="FFFFFF"/>
              </a:solidFill>
            </a:endParaRPr>
          </a:p>
        </p:txBody>
      </p:sp>
    </p:spTree>
    <p:extLst>
      <p:ext uri="{BB962C8B-B14F-4D97-AF65-F5344CB8AC3E}">
        <p14:creationId xmlns:p14="http://schemas.microsoft.com/office/powerpoint/2010/main" val="315945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800500" y="209550"/>
            <a:ext cx="5638800" cy="781000"/>
          </a:xfrm>
          <a:prstGeom prst="rect">
            <a:avLst/>
          </a:prstGeom>
        </p:spPr>
        <p:txBody>
          <a:bodyPr spcFirstLastPara="1" wrap="square" lIns="91425" tIns="91425" rIns="91425" bIns="91425" anchor="b" anchorCtr="0">
            <a:noAutofit/>
          </a:bodyPr>
          <a:lstStyle/>
          <a:p>
            <a:pPr algn="l" fontAlgn="base"/>
            <a:r>
              <a:rPr lang="en-US" sz="3200" b="1" i="0" dirty="0">
                <a:effectLst/>
                <a:latin typeface="-apple-system"/>
              </a:rPr>
              <a:t>MVC</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6</a:t>
            </a:r>
            <a:endParaRPr b="1" dirty="0">
              <a:solidFill>
                <a:srgbClr val="FFFFFF"/>
              </a:solidFill>
            </a:endParaRPr>
          </a:p>
        </p:txBody>
      </p:sp>
      <p:pic>
        <p:nvPicPr>
          <p:cNvPr id="4" name="Picture 3">
            <a:extLst>
              <a:ext uri="{FF2B5EF4-FFF2-40B4-BE49-F238E27FC236}">
                <a16:creationId xmlns:a16="http://schemas.microsoft.com/office/drawing/2014/main" id="{E7B059AE-4DF8-1B05-509B-FBCDC69E6764}"/>
              </a:ext>
            </a:extLst>
          </p:cNvPr>
          <p:cNvPicPr>
            <a:picLocks noChangeAspect="1"/>
          </p:cNvPicPr>
          <p:nvPr/>
        </p:nvPicPr>
        <p:blipFill>
          <a:blip r:embed="rId3"/>
          <a:stretch>
            <a:fillRect/>
          </a:stretch>
        </p:blipFill>
        <p:spPr>
          <a:xfrm>
            <a:off x="2590801" y="1352550"/>
            <a:ext cx="6095999" cy="2886481"/>
          </a:xfrm>
          <a:prstGeom prst="rect">
            <a:avLst/>
          </a:prstGeom>
        </p:spPr>
      </p:pic>
    </p:spTree>
    <p:extLst>
      <p:ext uri="{BB962C8B-B14F-4D97-AF65-F5344CB8AC3E}">
        <p14:creationId xmlns:p14="http://schemas.microsoft.com/office/powerpoint/2010/main" val="213188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5"/>
          <p:cNvSpPr/>
          <p:nvPr/>
        </p:nvSpPr>
        <p:spPr>
          <a:xfrm rot="-5400000">
            <a:off x="1053600" y="533300"/>
            <a:ext cx="1855800" cy="21429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72" name="Google Shape;572;p35"/>
          <p:cNvSpPr txBox="1">
            <a:spLocks noGrp="1"/>
          </p:cNvSpPr>
          <p:nvPr>
            <p:ph type="ctrTitle" idx="4294967295"/>
          </p:nvPr>
        </p:nvSpPr>
        <p:spPr>
          <a:xfrm>
            <a:off x="3152775" y="1354750"/>
            <a:ext cx="45621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000"/>
              <a:t>Thanks!</a:t>
            </a:r>
            <a:endParaRPr sz="8000"/>
          </a:p>
        </p:txBody>
      </p:sp>
      <p:sp>
        <p:nvSpPr>
          <p:cNvPr id="573" name="Google Shape;573;p35"/>
          <p:cNvSpPr txBox="1">
            <a:spLocks noGrp="1"/>
          </p:cNvSpPr>
          <p:nvPr>
            <p:ph type="body" idx="4294967295"/>
          </p:nvPr>
        </p:nvSpPr>
        <p:spPr>
          <a:xfrm>
            <a:off x="3286468" y="2400250"/>
            <a:ext cx="4562100" cy="246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3600" b="1" dirty="0"/>
              <a:t>Any questions?</a:t>
            </a:r>
            <a:endParaRPr dirty="0"/>
          </a:p>
        </p:txBody>
      </p:sp>
      <p:sp>
        <p:nvSpPr>
          <p:cNvPr id="574" name="Google Shape;574;p35"/>
          <p:cNvSpPr/>
          <p:nvPr/>
        </p:nvSpPr>
        <p:spPr>
          <a:xfrm>
            <a:off x="1591719" y="1212580"/>
            <a:ext cx="779561" cy="77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5"/>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13</a:t>
            </a:fld>
            <a:endParaRPr/>
          </a:p>
        </p:txBody>
      </p:sp>
    </p:spTree>
  </p:cSld>
  <p:clrMapOvr>
    <a:masterClrMapping/>
  </p:clrMapOvr>
</p:sld>
</file>

<file path=ppt/theme/theme1.xml><?xml version="1.0" encoding="utf-8"?>
<a:theme xmlns:a="http://schemas.openxmlformats.org/drawingml/2006/main" name="Imogen template">
  <a:themeElements>
    <a:clrScheme name="Custom 347">
      <a:dk1>
        <a:srgbClr val="FFFFFF"/>
      </a:dk1>
      <a:lt1>
        <a:srgbClr val="0E293C"/>
      </a:lt1>
      <a:dk2>
        <a:srgbClr val="BBC9D3"/>
      </a:dk2>
      <a:lt2>
        <a:srgbClr val="184769"/>
      </a:lt2>
      <a:accent1>
        <a:srgbClr val="00E1C6"/>
      </a:accent1>
      <a:accent2>
        <a:srgbClr val="19BBD5"/>
      </a:accent2>
      <a:accent3>
        <a:srgbClr val="2C9DDE"/>
      </a:accent3>
      <a:accent4>
        <a:srgbClr val="3274E1"/>
      </a:accent4>
      <a:accent5>
        <a:srgbClr val="4C4ED5"/>
      </a:accent5>
      <a:accent6>
        <a:srgbClr val="5CF55F"/>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242DC707EC874EBB896EE19BE41CF5" ma:contentTypeVersion="11" ma:contentTypeDescription="Create a new document." ma:contentTypeScope="" ma:versionID="272738a8f5ba7a96003a1b74e557c846">
  <xsd:schema xmlns:xsd="http://www.w3.org/2001/XMLSchema" xmlns:xs="http://www.w3.org/2001/XMLSchema" xmlns:p="http://schemas.microsoft.com/office/2006/metadata/properties" xmlns:ns2="cc854b23-1f66-4cca-98f9-bb868a4fcff3" xmlns:ns3="eee051cf-83cd-4bb9-be1d-26eeefa50579" targetNamespace="http://schemas.microsoft.com/office/2006/metadata/properties" ma:root="true" ma:fieldsID="385d008d0f33e7f45d7e03624d982603" ns2:_="" ns3:_="">
    <xsd:import namespace="cc854b23-1f66-4cca-98f9-bb868a4fcff3"/>
    <xsd:import namespace="eee051cf-83cd-4bb9-be1d-26eeefa505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854b23-1f66-4cca-98f9-bb868a4fcf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ee051cf-83cd-4bb9-be1d-26eeefa5057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afcb662-1c10-4c3c-85f1-81eeaed1b053}" ma:internalName="TaxCatchAll" ma:showField="CatchAllData" ma:web="eee051cf-83cd-4bb9-be1d-26eeefa505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c854b23-1f66-4cca-98f9-bb868a4fcff3">
      <Terms xmlns="http://schemas.microsoft.com/office/infopath/2007/PartnerControls"/>
    </lcf76f155ced4ddcb4097134ff3c332f>
    <TaxCatchAll xmlns="eee051cf-83cd-4bb9-be1d-26eeefa5057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3489E1-E691-4F89-818D-211D4B7BF827}"/>
</file>

<file path=customXml/itemProps2.xml><?xml version="1.0" encoding="utf-8"?>
<ds:datastoreItem xmlns:ds="http://schemas.openxmlformats.org/officeDocument/2006/customXml" ds:itemID="{C2EAE812-CCD2-4F4B-A330-F9BC5414AB34}">
  <ds:schemaRefs>
    <ds:schemaRef ds:uri="http://schemas.microsoft.com/office/2006/metadata/properties"/>
    <ds:schemaRef ds:uri="http://schemas.microsoft.com/office/infopath/2007/PartnerControls"/>
    <ds:schemaRef ds:uri="0e8e96a6-f450-4cc8-abca-16f2514dd959"/>
    <ds:schemaRef ds:uri="6197795e-e75c-4adf-97c8-05dcd46755c0"/>
  </ds:schemaRefs>
</ds:datastoreItem>
</file>

<file path=customXml/itemProps3.xml><?xml version="1.0" encoding="utf-8"?>
<ds:datastoreItem xmlns:ds="http://schemas.openxmlformats.org/officeDocument/2006/customXml" ds:itemID="{17D91A11-D317-48C5-ACC6-40F0C6B39F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1295</TotalTime>
  <Words>408</Words>
  <Application>Microsoft Office PowerPoint</Application>
  <PresentationFormat>On-screen Show (16:9)</PresentationFormat>
  <Paragraphs>51</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Imogen template</vt:lpstr>
      <vt:lpstr>JS Design Pattern Day3  Presented By :Asmaa Ahmed  </vt:lpstr>
      <vt:lpstr>Facade Pattern</vt:lpstr>
      <vt:lpstr>Facade Pattern</vt:lpstr>
      <vt:lpstr>Decorator Pattern</vt:lpstr>
      <vt:lpstr>Decorator Pattern</vt:lpstr>
      <vt:lpstr>Adapter Pattern</vt:lpstr>
      <vt:lpstr>Adapter Pattern</vt:lpstr>
      <vt:lpstr>Solid Principles</vt:lpstr>
      <vt:lpstr>Liskov substitution principle</vt:lpstr>
      <vt:lpstr>Interface Segregation Principle</vt:lpstr>
      <vt:lpstr>MVC</vt:lpstr>
      <vt:lpstr>MVC</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Asmaa Ahmed Marzouk</cp:lastModifiedBy>
  <cp:revision>258</cp:revision>
  <dcterms:modified xsi:type="dcterms:W3CDTF">2025-08-24T11:47:52Z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0x010100C0242DC707EC874EBB896EE19BE41CF5</vt:lpwstr>
  </property>
  <property fmtid="{D5CDD505-2E9C-101B-9397-08002B2CF9AE}" pid="3" name="MediaServiceImageTags">
    <vt:lpwstr/>
  </property>
</Properties>
</file>